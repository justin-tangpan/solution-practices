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6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46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InsightPro · 详细技术架构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onsolas" panose="020B0609020204030204"/>
              </a:defRPr>
            </a:pPr>
            <a:r>
              <a:t>29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InsightPro 全栈技术架构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1730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RAG + 双AI引擎 + 31个API端点 + 15个页面路由 + 9张SQLite表 + APScheduler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Frontend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110642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Next.js 16.2.6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App Router 15路由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8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React 19.2.4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TypeScript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Tailwind CSS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响应式布局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Recharts 3.8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Area/Bar/Line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ChatAssistant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SSE流式对话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664208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84664" y="1691640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PageTracker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4664" y="1865376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sendBeacon埋点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15798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3591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onsolas" panose="020B0609020204030204"/>
              </a:defRPr>
            </a:pPr>
            <a:r>
              <a:t>API Layer  (FastAPI 0.136 · Uvicorn 0.48 · 31端点)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60320"/>
            <a:ext cx="110642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78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/api/chat/stream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SSE流式客服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41448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6312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/api/baidu-hotsearch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96312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百度热搜爬虫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8536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/api/github-trending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GitHub Trending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35624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/api/market/*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0488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市场情报RAG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82712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37576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/api/bidding/*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招标分析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800" y="2596896"/>
            <a:ext cx="1783080" cy="4023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84664" y="2624328"/>
            <a:ext cx="1673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/api/demand/*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84664" y="2798064"/>
            <a:ext cx="1673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需求挖掘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3090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Consolas" panose="020B0609020204030204"/>
              </a:defRPr>
            </a:pPr>
            <a:r>
              <a:t>AI Engine Layer  (双AI引擎 + RAG增强)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3493135"/>
            <a:ext cx="5349240" cy="568325"/>
          </a:xfrm>
          <a:prstGeom prst="rect">
            <a:avLst/>
          </a:prstGeom>
          <a:solidFill>
            <a:srgbClr val="F1F5F9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21792" y="3538728"/>
            <a:ext cx="1097280" cy="1828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00">
                <a:latin typeface="微软雅黑" panose="020B0503020204020204" charset="-122"/>
                <a:ea typeface="微软雅黑" panose="020B0503020204020204" charset="-122"/>
              </a:rPr>
              <a:t>码道</a:t>
            </a:r>
            <a:endParaRPr lang="zh-CN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1792" y="3749039"/>
            <a:ext cx="50292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Consolas" panose="020B0609020204030204"/>
              </a:defRPr>
            </a:pPr>
            <a:r>
              <a:rPr lang="en-US"/>
              <a:t>vibecoding </a:t>
            </a:r>
            <a:r>
              <a:t>-chat · OpenAI SDK兼容 · JSON输出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3886200"/>
            <a:ext cx="5029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任务分析 / 招标分析 / 市场洞察 / 需求报告（低频结构化）</a:t>
            </a:r>
          </a:p>
        </p:txBody>
      </p:sp>
      <p:grpSp>
        <p:nvGrpSpPr>
          <p:cNvPr id="108" name="组合 107"/>
          <p:cNvGrpSpPr/>
          <p:nvPr/>
        </p:nvGrpSpPr>
        <p:grpSpPr>
          <a:xfrm>
            <a:off x="548640" y="4178935"/>
            <a:ext cx="5349240" cy="574040"/>
            <a:chOff x="864" y="6437"/>
            <a:chExt cx="8424" cy="904"/>
          </a:xfrm>
        </p:grpSpPr>
        <p:sp>
          <p:nvSpPr>
            <p:cNvPr id="55" name="Rectangle 54"/>
            <p:cNvSpPr/>
            <p:nvPr/>
          </p:nvSpPr>
          <p:spPr>
            <a:xfrm>
              <a:off x="864" y="6437"/>
              <a:ext cx="8424" cy="9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979" y="6509"/>
              <a:ext cx="1728" cy="288"/>
            </a:xfrm>
            <a:prstGeom prst="roundRect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51" y="6509"/>
              <a:ext cx="1584" cy="2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1">
                  <a:solidFill>
                    <a:srgbClr val="FFFFFF"/>
                  </a:solidFill>
                  <a:latin typeface="Consolas" panose="020B0609020204030204"/>
                </a:defRPr>
              </a:pPr>
              <a:r>
                <a:t>ModelArts MaaS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79" y="6840"/>
              <a:ext cx="7920" cy="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1F2937"/>
                  </a:solidFill>
                  <a:latin typeface="Consolas" panose="020B0609020204030204"/>
                </a:defRPr>
              </a:pPr>
              <a:r>
                <a:t>api.modelarts-maas.com · deepseek-v3.2 · httpx直连 · 流式SSE+非流式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79" y="7056"/>
              <a:ext cx="7920" cy="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站内AI智能客服问答（高频实时）</a:t>
              </a: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6080760" y="3493135"/>
            <a:ext cx="5532120" cy="1260475"/>
            <a:chOff x="9576" y="5501"/>
            <a:chExt cx="8712" cy="1728"/>
          </a:xfrm>
        </p:grpSpPr>
        <p:sp>
          <p:nvSpPr>
            <p:cNvPr id="60" name="Rectangle 59"/>
            <p:cNvSpPr/>
            <p:nvPr/>
          </p:nvSpPr>
          <p:spPr>
            <a:xfrm>
              <a:off x="9576" y="5501"/>
              <a:ext cx="8712" cy="1728"/>
            </a:xfrm>
            <a:prstGeom prst="rect">
              <a:avLst/>
            </a:prstGeom>
            <a:solidFill>
              <a:srgbClr val="F1F5F9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9691" y="5573"/>
              <a:ext cx="1728" cy="288"/>
            </a:xfrm>
            <a:prstGeom prst="roundRect">
              <a:avLst/>
            </a:prstGeom>
            <a:solidFill>
              <a:srgbClr val="6D28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763" y="5573"/>
              <a:ext cx="2291" cy="2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1">
                  <a:solidFill>
                    <a:srgbClr val="FFFFFF"/>
                  </a:solidFill>
                  <a:latin typeface="Consolas" panose="020B0609020204030204"/>
                </a:defRPr>
              </a:pPr>
              <a:r>
                <a:t>DeepSearcher RAG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691" y="5904"/>
              <a:ext cx="8352" cy="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1F2937"/>
                  </a:solidFill>
                  <a:latin typeface="Consolas" panose="020B0609020204030204"/>
                </a:defRPr>
              </a:pPr>
              <a:r>
                <a:t>Embedding: BAAI/bge-m3 · 1024维 · 中英双语 · 本地SentenceTransformer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691" y="6134"/>
              <a:ext cx="8352" cy="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1F2937"/>
                  </a:solidFill>
                  <a:latin typeface="Consolas" panose="020B0609020204030204"/>
                </a:defRPr>
              </a:pPr>
              <a:r>
                <a:t>VectorDB: Qdrant 本地文件持久化 (deep_searcher_qdrant/)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691" y="6365"/>
              <a:ext cx="4320" cy="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6D28D9"/>
                  </a:solidFill>
                  <a:latin typeface="微软雅黑" panose="020B0503020204020204" charset="-122"/>
                </a:defRPr>
              </a:pPr>
              <a:r>
                <a:t>5个向量集合：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9691" y="6595"/>
              <a:ext cx="2592" cy="245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749" y="6595"/>
              <a:ext cx="2448" cy="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D28D9"/>
                  </a:solidFill>
                  <a:latin typeface="Consolas" panose="020B0609020204030204"/>
                </a:defRPr>
              </a:pPr>
              <a:r>
                <a:t>platform_knowledge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2499" y="6595"/>
              <a:ext cx="2592" cy="245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2557" y="6595"/>
              <a:ext cx="2448" cy="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D28D9"/>
                  </a:solidFill>
                  <a:latin typeface="Consolas" panose="020B0609020204030204"/>
                </a:defRPr>
              </a:pPr>
              <a:r>
                <a:t>demand_signals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5307" y="6595"/>
              <a:ext cx="2592" cy="245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5365" y="6595"/>
              <a:ext cx="2448" cy="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D28D9"/>
                  </a:solidFill>
                  <a:latin typeface="Consolas" panose="020B0609020204030204"/>
                </a:defRPr>
              </a:pPr>
              <a:r>
                <a:t>competitive_news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9691" y="6883"/>
              <a:ext cx="2592" cy="245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749" y="6883"/>
              <a:ext cx="2448" cy="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D28D9"/>
                  </a:solidFill>
                  <a:latin typeface="Consolas" panose="020B0609020204030204"/>
                </a:defRPr>
              </a:pPr>
              <a:r>
                <a:t>github_trending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12499" y="6883"/>
              <a:ext cx="2592" cy="245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2557" y="6883"/>
              <a:ext cx="2448" cy="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D28D9"/>
                  </a:solidFill>
                  <a:latin typeface="Consolas" panose="020B0609020204030204"/>
                </a:defRPr>
              </a:pPr>
              <a:r>
                <a:t>policies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5669280" y="46634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48646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Consolas" panose="020B0609020204030204"/>
              </a:defRPr>
            </a:pPr>
            <a:r>
              <a:t>Data Layer  (SQLite 9表 + Supabase PostgreSQL 预留)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074920"/>
            <a:ext cx="6858000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21792" y="5120640"/>
            <a:ext cx="1097280" cy="182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665" y="5120640"/>
            <a:ext cx="2150745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Consolas" panose="020B0609020204030204"/>
              </a:defRPr>
            </a:pPr>
            <a:r>
              <a:t>SQLite trending.db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" y="5349240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534924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github_trending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65960" y="5349240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02536" y="534924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baidu_hotsearch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310128" y="5349240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46704" y="534924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scrape_log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54296" y="5349240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90872" y="534924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page_visits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998464" y="5349240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35040" y="534924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email_subscribers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1792" y="5513831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8495" y="5513705"/>
            <a:ext cx="1258570" cy="158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bidding_opportunities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965960" y="5513831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02536" y="5513831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competitor_news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310128" y="5513831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46704" y="5513831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demand_signals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654296" y="5513831"/>
            <a:ext cx="128016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690872" y="5513831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59669"/>
                </a:solidFill>
                <a:latin typeface="Consolas" panose="020B0609020204030204"/>
              </a:defRPr>
            </a:pPr>
            <a:r>
              <a:t>demand_reports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89520" y="5074920"/>
            <a:ext cx="4023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662672" y="5120640"/>
            <a:ext cx="109728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08392" y="51206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Consolas" panose="020B0609020204030204"/>
              </a:defRPr>
            </a:pPr>
            <a:r>
              <a:t>Supabase PG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62672" y="532180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F2937"/>
                </a:solidFill>
                <a:latin typeface="Consolas" panose="020B0609020204030204"/>
              </a:defRPr>
            </a:pPr>
            <a:r>
              <a:t>Prisma 7.8: User / InsightTask / DataSource / Report / DailyInsight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58064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1520" y="599059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onsolas" panose="020B0609020204030204"/>
              </a:defRPr>
            </a:pPr>
            <a:r>
              <a:t>APScheduler: 09:00 GitHub | 08:30 招标 | 08:00 需求 | 09:05 邮件 | 03:00 清理  ·  降级: 实时爬取→SQLite  ·  双AI: DeepSeek(低频) + ModelArts(高频)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InsightPro · 详细技术架构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Architecture Detail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t>SAC · 解决方案即代码 详细架构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28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onsolas" panose="020B0609020204030204"/>
              </a:defRPr>
            </a:pPr>
            <a:r>
              <a:t>30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64240" cy="1270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SAC 全栈技术架构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9295" y="1176655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4个AI Skills · 9个Python脚本 · 7个解决方案 · CN/HK双区域 · RFS一键部署</a:t>
            </a:r>
          </a:p>
        </p:txBody>
      </p:sp>
      <p:grpSp>
        <p:nvGrpSpPr>
          <p:cNvPr id="131" name="组合 130"/>
          <p:cNvGrpSpPr/>
          <p:nvPr/>
        </p:nvGrpSpPr>
        <p:grpSpPr>
          <a:xfrm>
            <a:off x="609600" y="1491615"/>
            <a:ext cx="9292590" cy="4705350"/>
            <a:chOff x="864" y="2232"/>
            <a:chExt cx="17424" cy="6120"/>
          </a:xfrm>
        </p:grpSpPr>
        <p:sp>
          <p:nvSpPr>
            <p:cNvPr id="7" name="TextBox 6"/>
            <p:cNvSpPr txBox="1"/>
            <p:nvPr/>
          </p:nvSpPr>
          <p:spPr>
            <a:xfrm>
              <a:off x="864" y="2232"/>
              <a:ext cx="8640" cy="2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5A623"/>
                  </a:solidFill>
                  <a:latin typeface="Consolas" panose="020B0609020204030204"/>
                </a:defRPr>
              </a:pPr>
              <a:r>
                <a:t>Solutions Layer 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64" y="2563"/>
              <a:ext cx="17424" cy="792"/>
            </a:xfrm>
            <a:prstGeom prst="rect">
              <a:avLst/>
            </a:prstGeom>
            <a:solidFill>
              <a:srgbClr val="1A1A2E"/>
            </a:solidFill>
            <a:ln w="9525">
              <a:solidFill>
                <a:srgbClr val="4040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36" y="2621"/>
              <a:ext cx="2376" cy="634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51" y="2650"/>
              <a:ext cx="2160" cy="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Headroom OpenCode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51" y="2966"/>
              <a:ext cx="2160" cy="2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HK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413" y="2621"/>
              <a:ext cx="2376" cy="634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28" y="2650"/>
              <a:ext cx="2160" cy="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Headroom ClaudeCode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28" y="2966"/>
              <a:ext cx="2160" cy="2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HK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90" y="2621"/>
              <a:ext cx="2376" cy="634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05" y="2650"/>
              <a:ext cx="2160" cy="2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LiteLLM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05" y="2966"/>
              <a:ext cx="2160" cy="2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CN/HK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366" y="2621"/>
              <a:ext cx="2376" cy="634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82" y="2650"/>
              <a:ext cx="2160" cy="2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Supabase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482" y="2966"/>
              <a:ext cx="2160" cy="2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CN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0843" y="2621"/>
              <a:ext cx="2376" cy="634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A78B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958" y="2650"/>
              <a:ext cx="2160" cy="2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OpenHands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958" y="2966"/>
              <a:ext cx="2160" cy="2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CN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3320" y="2621"/>
              <a:ext cx="2376" cy="634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A78B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3435" y="2650"/>
              <a:ext cx="2160" cy="2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CodeWhale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3435" y="2966"/>
              <a:ext cx="2160" cy="2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CN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28" y="3398"/>
              <a:ext cx="576" cy="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▼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64" y="3715"/>
              <a:ext cx="8640" cy="2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10B981"/>
                  </a:solidFill>
                  <a:latin typeface="Consolas" panose="020B0609020204030204"/>
                </a:defRPr>
              </a:pPr>
              <a:r>
                <a:t>Terraform Layer  (HCL模板 · 7核心变量 · 唯一命名uuid)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64" y="4032"/>
              <a:ext cx="10800" cy="1368"/>
            </a:xfrm>
            <a:prstGeom prst="rect">
              <a:avLst/>
            </a:prstGeom>
            <a:solidFill>
              <a:srgbClr val="1A1A2E"/>
            </a:solidFill>
            <a:ln w="9525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79" y="4104"/>
              <a:ext cx="1728" cy="288"/>
            </a:xfrm>
            <a:prstGeom prst="roundRect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51" y="4104"/>
              <a:ext cx="1584" cy="2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1">
                  <a:solidFill>
                    <a:srgbClr val="FFFFFF"/>
                  </a:solidFill>
                  <a:latin typeface="Consolas" panose="020B0609020204030204"/>
                </a:defRPr>
              </a:pPr>
              <a:r>
                <a:t>IaC Template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79" y="4536"/>
              <a:ext cx="3384" cy="317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51" y="4536"/>
              <a:ext cx="1512" cy="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B82F6"/>
                  </a:solidFill>
                  <a:latin typeface="Consolas" panose="020B0609020204030204"/>
                </a:defRPr>
              </a:pPr>
              <a:r>
                <a:t>huaweicloud_vpc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563" y="4536"/>
              <a:ext cx="1728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172.16.0.0/16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4579" y="4536"/>
              <a:ext cx="3384" cy="317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51" y="4536"/>
              <a:ext cx="1512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B82F6"/>
                  </a:solidFill>
                  <a:latin typeface="Consolas" panose="020B0609020204030204"/>
                </a:defRPr>
              </a:pPr>
              <a:r>
                <a:t>vpc_subnet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163" y="4536"/>
              <a:ext cx="1728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172.16.1.0/24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8179" y="4536"/>
              <a:ext cx="3384" cy="317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251" y="4536"/>
              <a:ext cx="1512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10B981"/>
                  </a:solidFill>
                  <a:latin typeface="Consolas" panose="020B0609020204030204"/>
                </a:defRPr>
              </a:pPr>
              <a:r>
                <a:t>secgroup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763" y="4536"/>
              <a:ext cx="1728" cy="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SSH:22+Proxy:8787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979" y="4896"/>
              <a:ext cx="3384" cy="317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51" y="4896"/>
              <a:ext cx="1512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F97316"/>
                  </a:solidFill>
                  <a:latin typeface="Consolas" panose="020B0609020204030204"/>
                </a:defRPr>
              </a:pPr>
              <a:r>
                <a:t>vpc_eip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563" y="4896"/>
              <a:ext cx="1728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300Mbit/s 流量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4579" y="4896"/>
              <a:ext cx="3384" cy="317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A78B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651" y="4896"/>
              <a:ext cx="1512" cy="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78BF0"/>
                  </a:solidFill>
                  <a:latin typeface="Consolas" panose="020B0609020204030204"/>
                </a:defRPr>
              </a:pPr>
              <a:r>
                <a:t>compute_instance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163" y="4896"/>
              <a:ext cx="1728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Flexus X Ubuntu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1952" y="4032"/>
              <a:ext cx="6336" cy="1368"/>
            </a:xfrm>
            <a:prstGeom prst="rect">
              <a:avLst/>
            </a:prstGeom>
            <a:solidFill>
              <a:srgbClr val="1A1A2E"/>
            </a:solidFill>
            <a:ln w="9525">
              <a:solidFill>
                <a:srgbClr val="F5A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2067" y="4104"/>
              <a:ext cx="1728" cy="288"/>
            </a:xfrm>
            <a:prstGeom prst="roundRect">
              <a:avLst/>
            </a:prstGeom>
            <a:solidFill>
              <a:srgbClr val="F5A6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2139" y="4104"/>
              <a:ext cx="2648" cy="2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1">
                  <a:solidFill>
                    <a:srgbClr val="FFFFFF"/>
                  </a:solidFill>
                  <a:latin typeface="Consolas" panose="020B0609020204030204"/>
                </a:defRPr>
              </a:pPr>
              <a:r>
                <a:t>user_data Flow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2067" y="4536"/>
              <a:ext cx="6048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① chpasswd 重置密码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2067" y="4738"/>
              <a:ext cx="6048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② wget OBS 下载 install.sh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2067" y="4939"/>
              <a:ext cx="6048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③ bash 执行安装脚本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2067" y="5141"/>
              <a:ext cx="6048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0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④ rm -rf 清理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2067" y="5357"/>
              <a:ext cx="6048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F5A623"/>
                  </a:solidFill>
                  <a:latin typeface="Consolas" panose="020B0609020204030204"/>
                </a:defRPr>
              </a:pPr>
              <a:r>
                <a:t>模板-脚本分离 · user_data最小化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28" y="5472"/>
              <a:ext cx="576" cy="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▼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64" y="5832"/>
              <a:ext cx="8640" cy="2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97316"/>
                  </a:solidFill>
                  <a:latin typeface="Consolas" panose="020B0609020204030204"/>
                </a:defRPr>
              </a:pPr>
              <a:r>
                <a:t>Install Script Layer  (5阶段 · install_*.sh)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64" y="6163"/>
              <a:ext cx="17424" cy="792"/>
            </a:xfrm>
            <a:prstGeom prst="rect">
              <a:avLst/>
            </a:prstGeom>
            <a:solidFill>
              <a:srgbClr val="1A1A2E"/>
            </a:solidFill>
            <a:ln w="9525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936" y="6235"/>
              <a:ext cx="3384" cy="648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F5A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08" y="6264"/>
              <a:ext cx="3240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F5A623"/>
                  </a:solidFill>
                  <a:latin typeface="微软雅黑" panose="020B0503020204020204" charset="-122"/>
                </a:defRPr>
              </a:pPr>
              <a:r>
                <a:t>Stage 1 · 系统准备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08" y="6509"/>
              <a:ext cx="3240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dpkg + apt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4450" y="6235"/>
              <a:ext cx="3384" cy="648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522" y="6264"/>
              <a:ext cx="3240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3B82F6"/>
                  </a:solidFill>
                  <a:latin typeface="微软雅黑" panose="020B0503020204020204" charset="-122"/>
                </a:defRPr>
              </a:pPr>
              <a:r>
                <a:t>Stage 2 · Docker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522" y="6509"/>
              <a:ext cx="3240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CN华为云/HK官方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7963" y="6235"/>
              <a:ext cx="3384" cy="648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035" y="6264"/>
              <a:ext cx="3240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10B981"/>
                  </a:solidFill>
                  <a:latin typeface="微软雅黑" panose="020B0503020204020204" charset="-122"/>
                </a:defRPr>
              </a:pPr>
              <a:r>
                <a:t>Stage 3 · 应用配置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035" y="6509"/>
              <a:ext cx="3240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目录/配置/cron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1477" y="6235"/>
              <a:ext cx="3384" cy="648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A78B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1549" y="6264"/>
              <a:ext cx="3240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A78BF0"/>
                  </a:solidFill>
                  <a:latin typeface="微软雅黑" panose="020B0503020204020204" charset="-122"/>
                </a:defRPr>
              </a:pPr>
              <a:r>
                <a:t>Stage 4 · 启动验证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1549" y="6509"/>
              <a:ext cx="3240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compose up 120s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928" y="7027"/>
              <a:ext cx="576" cy="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6B7280"/>
                  </a:solidFill>
                  <a:latin typeface="微软雅黑" panose="020B0503020204020204" charset="-122"/>
                </a:defRPr>
              </a:pPr>
              <a:r>
                <a:t>▼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64" y="7315"/>
              <a:ext cx="8640" cy="2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3B82F6"/>
                  </a:solidFill>
                  <a:latin typeface="Consolas" panose="020B0609020204030204"/>
                </a:defRPr>
              </a:pPr>
              <a:r>
                <a:t>ECS Runtime  (Flexus X · Ubuntu 24.04 · x1.2u.4g · 40GB SSD)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864" y="7632"/>
              <a:ext cx="17424" cy="720"/>
            </a:xfrm>
            <a:prstGeom prst="rect">
              <a:avLst/>
            </a:prstGeom>
            <a:solidFill>
              <a:srgbClr val="1A1A2E"/>
            </a:solidFill>
            <a:ln w="9525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936" y="7690"/>
              <a:ext cx="2808" cy="605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08" y="7718"/>
              <a:ext cx="2664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3B82F6"/>
                  </a:solidFill>
                  <a:latin typeface="微软雅黑" panose="020B0503020204020204" charset="-122"/>
                </a:defRPr>
              </a:pPr>
              <a:r>
                <a:t>OpenCode CLI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08" y="7963"/>
              <a:ext cx="2664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npm -g opencode-ai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3845" y="7690"/>
              <a:ext cx="2808" cy="605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10B9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917" y="7718"/>
              <a:ext cx="2664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10B981"/>
                  </a:solidFill>
                  <a:latin typeface="微软雅黑" panose="020B0503020204020204" charset="-122"/>
                </a:defRPr>
              </a:pPr>
              <a:r>
                <a:t>Headroom Proxy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917" y="7963"/>
              <a:ext cx="2664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pip headroom-ai :8787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6754" y="7690"/>
              <a:ext cx="2808" cy="605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6D28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826" y="7718"/>
              <a:ext cx="2664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6D28D9"/>
                  </a:solidFill>
                  <a:latin typeface="微软雅黑" panose="020B0503020204020204" charset="-122"/>
                </a:defRPr>
              </a:pPr>
              <a:r>
                <a:t>Context Engine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826" y="7963"/>
              <a:ext cx="2664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AST压缩 60-95%</a:t>
              </a: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9662" y="7690"/>
              <a:ext cx="2808" cy="605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F5A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734" y="7718"/>
              <a:ext cx="2664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F5A623"/>
                  </a:solidFill>
                  <a:latin typeface="微软雅黑" panose="020B0503020204020204" charset="-122"/>
                </a:defRPr>
              </a:pPr>
              <a:r>
                <a:t>MaaS Endpoint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734" y="7963"/>
              <a:ext cx="2664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modelarts-maas.com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12571" y="7690"/>
              <a:ext cx="2808" cy="605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2643" y="7718"/>
              <a:ext cx="2664" cy="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F97316"/>
                  </a:solidFill>
                  <a:latin typeface="微软雅黑" panose="020B0503020204020204" charset="-122"/>
                </a:defRPr>
              </a:pPr>
              <a:r>
                <a:t>Docker Services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2643" y="7963"/>
              <a:ext cx="2664" cy="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LiteLLM+PG+Prom</a:t>
              </a:r>
            </a:p>
          </p:txBody>
        </p:sp>
      </p:grpSp>
      <p:sp>
        <p:nvSpPr>
          <p:cNvPr id="73" name="Rounded Rectangle 72"/>
          <p:cNvSpPr/>
          <p:nvPr/>
        </p:nvSpPr>
        <p:spPr>
          <a:xfrm>
            <a:off x="9536430" y="4370705"/>
            <a:ext cx="1012825" cy="411480"/>
          </a:xfrm>
          <a:prstGeom prst="roundRect">
            <a:avLst/>
          </a:prstGeom>
          <a:solidFill>
            <a:srgbClr val="252540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4" name="组合 133"/>
          <p:cNvGrpSpPr/>
          <p:nvPr/>
        </p:nvGrpSpPr>
        <p:grpSpPr>
          <a:xfrm>
            <a:off x="9557385" y="4389120"/>
            <a:ext cx="969010" cy="353695"/>
            <a:chOff x="15051" y="6912"/>
            <a:chExt cx="1526" cy="557"/>
          </a:xfrm>
        </p:grpSpPr>
        <p:sp>
          <p:nvSpPr>
            <p:cNvPr id="74" name="TextBox 73"/>
            <p:cNvSpPr txBox="1"/>
            <p:nvPr/>
          </p:nvSpPr>
          <p:spPr>
            <a:xfrm>
              <a:off x="15051" y="6912"/>
              <a:ext cx="1527" cy="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800" b="1">
                  <a:solidFill>
                    <a:srgbClr val="06B6D4"/>
                  </a:solidFill>
                  <a:latin typeface="微软雅黑" panose="020B0503020204020204" charset="-122"/>
                </a:defRPr>
              </a:pPr>
              <a:r>
                <a:t>Stage 5 · OpenCode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5051" y="7157"/>
              <a:ext cx="1527" cy="3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Node.js 18+ npm</a:t>
              </a:r>
            </a:p>
          </p:txBody>
        </p:sp>
      </p:grpSp>
      <p:sp>
        <p:nvSpPr>
          <p:cNvPr id="94" name="Rounded Rectangle 93"/>
          <p:cNvSpPr/>
          <p:nvPr/>
        </p:nvSpPr>
        <p:spPr>
          <a:xfrm>
            <a:off x="9682480" y="5294630"/>
            <a:ext cx="840105" cy="384175"/>
          </a:xfrm>
          <a:prstGeom prst="roundRect">
            <a:avLst/>
          </a:prstGeom>
          <a:solidFill>
            <a:srgbClr val="252540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04070" y="5312410"/>
            <a:ext cx="796925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6B6D4"/>
                </a:solidFill>
                <a:latin typeface="微软雅黑" panose="020B0503020204020204" charset="-122"/>
              </a:defRPr>
            </a:pPr>
            <a:r>
              <a:t>Monitoring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04070" y="5467985"/>
            <a:ext cx="79692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AAABB"/>
                </a:solidFill>
                <a:latin typeface="Consolas" panose="020B0609020204030204"/>
              </a:defRPr>
            </a:pPr>
            <a:r>
              <a:t>/metrics /stats</a:t>
            </a:r>
          </a:p>
        </p:txBody>
      </p:sp>
      <p:grpSp>
        <p:nvGrpSpPr>
          <p:cNvPr id="132" name="组合 131"/>
          <p:cNvGrpSpPr/>
          <p:nvPr/>
        </p:nvGrpSpPr>
        <p:grpSpPr>
          <a:xfrm>
            <a:off x="10212705" y="1885315"/>
            <a:ext cx="1378585" cy="1828800"/>
            <a:chOff x="14400" y="3168"/>
            <a:chExt cx="2171" cy="2880"/>
          </a:xfrm>
        </p:grpSpPr>
        <p:sp>
          <p:nvSpPr>
            <p:cNvPr id="27" name="Rounded Rectangle 26"/>
            <p:cNvSpPr/>
            <p:nvPr/>
          </p:nvSpPr>
          <p:spPr>
            <a:xfrm>
              <a:off x="15398" y="3269"/>
              <a:ext cx="1120" cy="634"/>
            </a:xfrm>
            <a:prstGeom prst="roundRect">
              <a:avLst/>
            </a:prstGeom>
            <a:solidFill>
              <a:srgbClr val="252540"/>
            </a:solidFill>
            <a:ln w="9525">
              <a:solidFill>
                <a:srgbClr val="F973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5452" y="3298"/>
              <a:ext cx="1018" cy="3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AiToEarn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5452" y="3614"/>
              <a:ext cx="1018" cy="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AAAABB"/>
                  </a:solidFill>
                  <a:latin typeface="Consolas" panose="020B0609020204030204"/>
                </a:defRPr>
              </a:pPr>
              <a:r>
                <a:t>CN/HK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14400" y="3168"/>
              <a:ext cx="2171" cy="2880"/>
            </a:xfrm>
            <a:prstGeom prst="rect">
              <a:avLst/>
            </a:prstGeom>
            <a:solidFill>
              <a:srgbClr val="1A1A2E"/>
            </a:solidFill>
            <a:ln w="9525">
              <a:solidFill>
                <a:srgbClr val="F5A62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4468" y="3240"/>
              <a:ext cx="2036" cy="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F5A623"/>
                  </a:solidFill>
                  <a:latin typeface="微软雅黑" panose="020B0503020204020204" charset="-122"/>
                </a:defRPr>
              </a:pPr>
              <a:r>
                <a:t>AI Skills 技能体系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4468" y="3600"/>
              <a:ext cx="2036" cy="3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 panose="020B0609020204030204"/>
                </a:defRPr>
              </a:pPr>
              <a:r>
                <a:t>rfs-practices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4468" y="3859"/>
              <a:ext cx="2036" cy="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AAAABB"/>
                  </a:solidFill>
                  <a:latin typeface="微软雅黑" panose="020B0503020204020204" charset="-122"/>
                </a:defRPr>
              </a:pPr>
              <a:r>
                <a:t>创建/修复RFS模板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4468" y="4176"/>
              <a:ext cx="2036" cy="3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 panose="020B0609020204030204"/>
                </a:defRPr>
              </a:pPr>
              <a:r>
                <a:t>solution-extractor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4468" y="4752"/>
              <a:ext cx="2036" cy="3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 panose="020B0609020204030204"/>
                </a:defRPr>
              </a:pPr>
              <a:r>
                <a:t>page-enhance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4468" y="5011"/>
              <a:ext cx="2036" cy="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AAAABB"/>
                  </a:solidFill>
                  <a:latin typeface="微软雅黑" panose="020B0503020204020204" charset="-122"/>
                </a:defRPr>
              </a:pPr>
              <a:r>
                <a:t>方案页面文案增强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4468" y="5328"/>
              <a:ext cx="2036" cy="3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1">
                  <a:solidFill>
                    <a:srgbClr val="FFFFFF"/>
                  </a:solidFill>
                  <a:latin typeface="Consolas" panose="020B0609020204030204"/>
                </a:defRPr>
              </a:pPr>
              <a:r>
                <a:t>deep-search-synth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4468" y="5587"/>
              <a:ext cx="2036" cy="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50" b="0">
                  <a:solidFill>
                    <a:srgbClr val="AAAABB"/>
                  </a:solidFill>
                  <a:latin typeface="微软雅黑" panose="020B0503020204020204" charset="-122"/>
                </a:defRPr>
              </a:pPr>
              <a:r>
                <a:t>3层深度调研</a:t>
              </a:r>
            </a:p>
          </p:txBody>
        </p:sp>
      </p:grpSp>
      <p:sp>
        <p:nvSpPr>
          <p:cNvPr id="107" name="Rectangle 106"/>
          <p:cNvSpPr/>
          <p:nvPr/>
        </p:nvSpPr>
        <p:spPr>
          <a:xfrm>
            <a:off x="9144000" y="3931920"/>
            <a:ext cx="1378585" cy="1691640"/>
          </a:xfrm>
          <a:prstGeom prst="rect">
            <a:avLst/>
          </a:prstGeom>
          <a:solidFill>
            <a:srgbClr val="1A1A2E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187180" y="3977640"/>
            <a:ext cx="12928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Python/Bash 工具链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87180" y="4206240"/>
            <a:ext cx="129286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onsolas" panose="020B0609020204030204"/>
              </a:defRPr>
            </a:pPr>
            <a:r>
              <a:t>validate_template.py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87180" y="4343400"/>
            <a:ext cx="1292860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RFS模板结构验证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87180" y="4480560"/>
            <a:ext cx="129286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onsolas" panose="020B0609020204030204"/>
              </a:defRPr>
            </a:pPr>
            <a:r>
              <a:t>gen_docx.py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87180" y="4617720"/>
            <a:ext cx="1292860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README→Word中英文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7180" y="4754880"/>
            <a:ext cx="129286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onsolas" panose="020B0609020204030204"/>
              </a:defRPr>
            </a:pPr>
            <a:r>
              <a:t>gen_sac_docx.py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87180" y="4892040"/>
            <a:ext cx="1292860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SAC方案报告生成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87180" y="5029200"/>
            <a:ext cx="129286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onsolas" panose="020B0609020204030204"/>
              </a:defRPr>
            </a:pPr>
            <a:r>
              <a:t>generate_extension.py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87180" y="5166360"/>
            <a:ext cx="1292860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.extension配置生成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87180" y="5303520"/>
            <a:ext cx="129286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onsolas" panose="020B0609020204030204"/>
              </a:defRPr>
            </a:pPr>
            <a:r>
              <a:t>package_solution.sh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87180" y="5440680"/>
            <a:ext cx="1292860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方案打包归档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0" y="5669280"/>
            <a:ext cx="1378585" cy="731520"/>
          </a:xfrm>
          <a:prstGeom prst="rect">
            <a:avLst/>
          </a:prstGeom>
          <a:solidFill>
            <a:srgbClr val="1A1A2E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87180" y="5715000"/>
            <a:ext cx="129286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微软雅黑" panose="020B0503020204020204" charset="-122"/>
              </a:defRPr>
            </a:pPr>
            <a:r>
              <a:t>CN vs HK 差异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87180" y="5897880"/>
            <a:ext cx="30162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6B6D4"/>
                </a:solidFill>
                <a:latin typeface="Consolas" panose="020B0609020204030204"/>
              </a:defRPr>
            </a:pPr>
            <a:r>
              <a:t>Docker源: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488805" y="5897880"/>
            <a:ext cx="99123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AAABB"/>
                </a:solidFill>
                <a:latin typeface="Consolas" panose="020B0609020204030204"/>
              </a:defRPr>
            </a:pPr>
            <a:r>
              <a:t>华为云镜像 / 官方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87180" y="6035040"/>
            <a:ext cx="30162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6B6D4"/>
                </a:solidFill>
                <a:latin typeface="Consolas" panose="020B0609020204030204"/>
              </a:defRPr>
            </a:pPr>
            <a:r>
              <a:t>SWR: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88805" y="6035040"/>
            <a:ext cx="99123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AAABB"/>
                </a:solidFill>
                <a:latin typeface="Consolas" panose="020B0609020204030204"/>
              </a:defRPr>
            </a:pPr>
            <a:r>
              <a:t>需要 / 不需要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87180" y="6172200"/>
            <a:ext cx="30162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6B6D4"/>
                </a:solidFill>
                <a:latin typeface="Consolas" panose="020B0609020204030204"/>
              </a:defRPr>
            </a:pPr>
            <a:r>
              <a:t>PyPI: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488805" y="6172200"/>
            <a:ext cx="991235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AAABB"/>
                </a:solidFill>
                <a:latin typeface="Consolas" panose="020B0609020204030204"/>
              </a:defRPr>
            </a:pPr>
            <a:r>
              <a:t>清华源 / 默认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SAC · 详细技术架构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44000" y="6400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 panose="020B0609020204030204"/>
              </a:defRPr>
            </a:pPr>
            <a:r>
              <a:t>Solution as Code</a:t>
            </a:r>
          </a:p>
        </p:txBody>
      </p:sp>
      <p:sp>
        <p:nvSpPr>
          <p:cNvPr id="133" name="TextBox 101"/>
          <p:cNvSpPr txBox="1"/>
          <p:nvPr/>
        </p:nvSpPr>
        <p:spPr>
          <a:xfrm>
            <a:off x="8582660" y="3688080"/>
            <a:ext cx="1292860" cy="2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AAAABB"/>
                </a:solidFill>
                <a:latin typeface="微软雅黑" panose="020B0503020204020204" charset="-122"/>
              </a:defRPr>
            </a:pPr>
            <a:r>
              <a:t>方案页→结构化Excel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2530</Words>
  <Application>WPS 演示</Application>
  <PresentationFormat>On-screen Show (4:3)</PresentationFormat>
  <Paragraphs>316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Arial</vt:lpstr>
      <vt:lpstr>Consolas</vt:lpstr>
      <vt:lpstr>微软雅黑</vt:lpstr>
      <vt:lpstr>Calibri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糖糖糖</cp:lastModifiedBy>
  <cp:revision>2</cp:revision>
  <dcterms:created xsi:type="dcterms:W3CDTF">2013-01-27T09:14:00Z</dcterms:created>
  <dcterms:modified xsi:type="dcterms:W3CDTF">2026-06-16T02:37:06Z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06F8F3C9092149C9A0C6D1279CF41AC0_12</vt:lpwstr>
  </property>
  <property fmtid="{D5CDD505-2E9C-101B-9397-08002B2CF9AE}" pid="3" name="KSOProductBuildVer">
    <vt:lpwstr>2052-12.1.0.22529</vt:lpwstr>
  </property>
</Properties>
</file>