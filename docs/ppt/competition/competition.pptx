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61" r:id="rId6"/>
    <p:sldId id="264" r:id="rId7"/>
    <p:sldId id="284" r:id="rId8"/>
    <p:sldId id="268" r:id="rId9"/>
    <p:sldId id="269" r:id="rId10"/>
    <p:sldId id="270" r:id="rId11"/>
    <p:sldId id="272" r:id="rId12"/>
    <p:sldId id="275" r:id="rId13"/>
    <p:sldId id="276" r:id="rId14"/>
    <p:sldId id="279" r:id="rId15"/>
    <p:sldId id="280" r:id="rId16"/>
    <p:sldId id="281" r:id="rId17"/>
    <p:sldId id="282" r:id="rId18"/>
    <p:sldId id="283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49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41.xml"/><Relationship Id="rId23" Type="http://schemas.openxmlformats.org/officeDocument/2006/relationships/hyperlink" Target="http://94.74.90.21:3000&#13;" TargetMode="Externa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onsolas" panose="020B0609020204030204"/>
              </a:defRPr>
            </a:pPr>
            <a:r>
              <a:t>智云赢商 · AI Agent 创新实战大比武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Agent 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商业洞察与云方案实践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8288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基于华为云 MaaS 大模型服务、RFS 资源编排与 Headroom 上下文压缩引擎</a:t>
            </a:r>
            <a:br/>
            <a:r>
              <a:t>构建智能商业洞察平台与解决方案即代码体系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onsolas" panose="020B0609020204030204"/>
              </a:defRPr>
            </a:pPr>
            <a:r>
              <a:t>唐潘 · 解决方案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议程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02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分享议程</a:t>
            </a: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914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64592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背景与挑战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64592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信息孤岛与效率瓶颈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14400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645920" y="2761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项目全景 · 双轨并行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645920" y="3081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InsightPro + SAC 两大项目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914400" y="3511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64592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InsightPro · 商业洞察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645920" y="3831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让数据说话，让决策有据</a:t>
            </a: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914400" y="4261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1645920" y="4261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SAC · 解决方案即代码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1645920" y="4581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方案即代码，一键部署</a:t>
            </a: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14400" y="5010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164592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华为云产品深度使用</a:t>
            </a: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1645920" y="5330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MaaS · RFS · Headroom</a:t>
            </a: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914400" y="57607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onsolas" panose="020B0609020204030204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1645920" y="57607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创新性与价值总结</a:t>
            </a: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645920" y="6080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Agent 驱动业务价值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286000"/>
            <a:ext cx="3810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围绕</a:t>
            </a:r>
            <a:br/>
            <a:r>
              <a:t>业务价值、技术实现、</a:t>
            </a:r>
            <a:br/>
            <a:r>
              <a:t>创新性、产品反馈</a:t>
            </a:r>
            <a:br/>
            <a:br/>
            <a:r>
              <a:t>四大维度深度展示</a:t>
            </a:r>
            <a:br/>
            <a:r>
              <a:t>AI Agent 解决实际</a:t>
            </a:r>
            <a:br/>
            <a:r>
              <a:t>业务问题的效果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智云赢商 · AI Agent 创新实战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项目全景 · Portfolio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Act I · 05 / 28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PORTFOLIO OVERVIEW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 AI Agent </a:t>
            </a:r>
            <a:r>
              <a:rPr lang="en-US">
                <a:solidFill>
                  <a:schemeClr val="tx1"/>
                </a:solidFill>
              </a:rPr>
              <a:t>vibe </a:t>
            </a:r>
            <a:r>
              <a:rPr lang="en-US">
                <a:solidFill>
                  <a:schemeClr val="tx1"/>
                </a:solidFill>
              </a:rPr>
              <a:t>coding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2926080"/>
          </a:xfrm>
          <a:prstGeom prst="roundRect">
            <a:avLst/>
          </a:prstGeom>
          <a:noFill/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Project A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InsightPro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企业级AI商业洞察平台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基于</a:t>
            </a:r>
            <a:r>
              <a:rPr lang="zh-CN">
                <a:solidFill>
                  <a:schemeClr val="tx1"/>
                </a:solidFill>
              </a:rPr>
              <a:t>码道</a:t>
            </a:r>
            <a:r>
              <a:rPr>
                <a:solidFill>
                  <a:schemeClr val="tx1"/>
                </a:solidFill>
              </a:rPr>
              <a:t>+MaaS双AI引擎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自动采集多源信息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竞品追踪/市场分析/招标商机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Next.js + FastAPI · DeepSeek + MaaS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029200" cy="2926080"/>
          </a:xfrm>
          <a:prstGeom prst="roundRect">
            <a:avLst/>
          </a:prstGeom>
          <a:noFill/>
          <a:ln>
            <a:solidFill>
              <a:srgbClr val="6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Project B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572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SAC · 解决方案</a:t>
            </a:r>
            <a:r>
              <a:rPr lang="zh-CN">
                <a:solidFill>
                  <a:schemeClr val="tx1"/>
                </a:solidFill>
              </a:rPr>
              <a:t>实践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基于华为云RFS/OpenTofu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解决方案实践仓库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Headroom+OpenCode AI编程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基础设施即代码扩展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RFS + OpenTofu · Headroom + MaaS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698480" cy="12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AI Agent 项目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华为云服务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0" y="5669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100%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开源项目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Page 05 · 双项目定位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Portfolio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rPr lang="en-US" altLang="zh-CN"/>
              <a:t>InsightPro</a:t>
            </a:r>
            <a:r>
              <a:rPr lang="zh-CN" altLang="en-US"/>
              <a:t>：商业洞察平台</a:t>
            </a:r>
            <a:endParaRPr lang="zh-CN" altLang="en-US"/>
          </a:p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II · 06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 panose="020B0609020204030204"/>
              </a:defRPr>
            </a:pPr>
            <a:r>
              <a:rPr lang="en-US"/>
              <a:t>vibe coding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InsightPro</a:t>
            </a:r>
            <a:r>
              <a:rPr 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商业洞察平台</a:t>
            </a:r>
            <a:endParaRPr lang="zh-CN" altLang="en-US"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841105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基于 DeepSearcher RAG + 双 AI 引擎的企业级竞争情报分析平台</a:t>
            </a:r>
            <a:br/>
            <a:r>
              <a:t>将海量信息转化为可执行的商业洞察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第二幕 · InsightPro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— · 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核心功能</a:t>
            </a:r>
            <a:r>
              <a:rPr lang="en-US"/>
              <a:t>/</a:t>
            </a:r>
            <a:r>
              <a:rPr lang="zh-CN" altLang="en-US"/>
              <a:t>业务</a:t>
            </a:r>
            <a:r>
              <a:rPr lang="zh-CN" altLang="en-US"/>
              <a:t>价值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II / Features · 09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从情报获取到决策支撑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642620" y="3966210"/>
            <a:ext cx="10309860" cy="1995805"/>
            <a:chOff x="1152" y="3312"/>
            <a:chExt cx="17424" cy="6120"/>
          </a:xfrm>
        </p:grpSpPr>
        <p:sp>
          <p:nvSpPr>
            <p:cNvPr id="7" name="Rounded Rectangle 6"/>
            <p:cNvSpPr/>
            <p:nvPr/>
          </p:nvSpPr>
          <p:spPr>
            <a:xfrm>
              <a:off x="1152" y="331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40" y="360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今日洞察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40" y="424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首页总览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616" y="331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04" y="360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行业全景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04" y="424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六大行业动态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80" y="331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368" y="360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案例库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368" y="424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上云最佳实践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4544" y="331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832" y="360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热点追踪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832" y="424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GitHub Trend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152" y="547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40" y="576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友商洞察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40" y="640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6大场景化分析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16" y="547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04" y="576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政策法规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04" y="640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核心政策追踪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80" y="547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368" y="576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商业快讯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368" y="640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全球媒体头条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4544" y="547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832" y="576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增长机会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4832" y="640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客户切入策略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152" y="763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440" y="792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市场情报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40" y="856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商机信息分析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5616" y="763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04" y="792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需求挖掘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04" y="856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客户需求线索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080" y="763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68" y="792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招标信息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368" y="856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招标情报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4544" y="7632"/>
              <a:ext cx="4032" cy="1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4832" y="7920"/>
              <a:ext cx="3456" cy="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数据大屏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4832" y="8568"/>
              <a:ext cx="3456" cy="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运营指标图表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功能全景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Features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1569720" y="1984375"/>
            <a:ext cx="9041765" cy="712930"/>
            <a:chOff x="1152" y="3312"/>
            <a:chExt cx="14239" cy="1551"/>
          </a:xfrm>
        </p:grpSpPr>
        <p:sp>
          <p:nvSpPr>
            <p:cNvPr id="47" name="Rounded Rectangle 6"/>
            <p:cNvSpPr/>
            <p:nvPr>
              <p:custDataLst>
                <p:tags r:id="rId1"/>
              </p:custDataLst>
            </p:nvPr>
          </p:nvSpPr>
          <p:spPr>
            <a:xfrm>
              <a:off x="1152" y="3312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8" name="TextBox 7"/>
            <p:cNvSpPr txBox="1"/>
            <p:nvPr>
              <p:custDataLst>
                <p:tags r:id="rId2"/>
              </p:custDataLst>
            </p:nvPr>
          </p:nvSpPr>
          <p:spPr>
            <a:xfrm>
              <a:off x="1319" y="3409"/>
              <a:ext cx="3676" cy="1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26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6</a:t>
              </a:r>
            </a:p>
          </p:txBody>
        </p:sp>
        <p:sp>
          <p:nvSpPr>
            <p:cNvPr id="49" name="TextBox 8"/>
            <p:cNvSpPr txBox="1"/>
            <p:nvPr>
              <p:custDataLst>
                <p:tags r:id="rId3"/>
              </p:custDataLst>
            </p:nvPr>
          </p:nvSpPr>
          <p:spPr>
            <a:xfrm>
              <a:off x="2581" y="3579"/>
              <a:ext cx="3676" cy="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大行业</a:t>
              </a:r>
            </a:p>
          </p:txBody>
        </p:sp>
        <p:sp>
          <p:nvSpPr>
            <p:cNvPr id="50" name="TextBox 9"/>
            <p:cNvSpPr txBox="1"/>
            <p:nvPr>
              <p:custDataLst>
                <p:tags r:id="rId4"/>
              </p:custDataLst>
            </p:nvPr>
          </p:nvSpPr>
          <p:spPr>
            <a:xfrm>
              <a:off x="1319" y="4233"/>
              <a:ext cx="3676" cy="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生物医疗/交通/基建/互联网/零售/制造</a:t>
              </a:r>
            </a:p>
          </p:txBody>
        </p:sp>
        <p:sp>
          <p:nvSpPr>
            <p:cNvPr id="51" name="Rounded Rectangle 10"/>
            <p:cNvSpPr/>
            <p:nvPr>
              <p:custDataLst>
                <p:tags r:id="rId5"/>
              </p:custDataLst>
            </p:nvPr>
          </p:nvSpPr>
          <p:spPr>
            <a:xfrm>
              <a:off x="5719" y="3312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52" name="TextBox 11"/>
            <p:cNvSpPr txBox="1"/>
            <p:nvPr>
              <p:custDataLst>
                <p:tags r:id="rId6"/>
              </p:custDataLst>
            </p:nvPr>
          </p:nvSpPr>
          <p:spPr>
            <a:xfrm>
              <a:off x="5886" y="3409"/>
              <a:ext cx="3676" cy="1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26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5</a:t>
              </a:r>
            </a:p>
          </p:txBody>
        </p:sp>
        <p:sp>
          <p:nvSpPr>
            <p:cNvPr id="53" name="TextBox 12"/>
            <p:cNvSpPr txBox="1"/>
            <p:nvPr>
              <p:custDataLst>
                <p:tags r:id="rId7"/>
              </p:custDataLst>
            </p:nvPr>
          </p:nvSpPr>
          <p:spPr>
            <a:xfrm>
              <a:off x="7148" y="3579"/>
              <a:ext cx="3676" cy="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大厂商</a:t>
              </a:r>
            </a:p>
          </p:txBody>
        </p:sp>
        <p:sp>
          <p:nvSpPr>
            <p:cNvPr id="54" name="TextBox 13"/>
            <p:cNvSpPr txBox="1"/>
            <p:nvPr>
              <p:custDataLst>
                <p:tags r:id="rId8"/>
              </p:custDataLst>
            </p:nvPr>
          </p:nvSpPr>
          <p:spPr>
            <a:xfrm>
              <a:off x="5886" y="4233"/>
              <a:ext cx="3676" cy="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AWS/Azure/阿里云/腾讯云/火山云</a:t>
              </a:r>
            </a:p>
          </p:txBody>
        </p:sp>
        <p:sp>
          <p:nvSpPr>
            <p:cNvPr id="55" name="Rounded Rectangle 14"/>
            <p:cNvSpPr/>
            <p:nvPr>
              <p:custDataLst>
                <p:tags r:id="rId9"/>
              </p:custDataLst>
            </p:nvPr>
          </p:nvSpPr>
          <p:spPr>
            <a:xfrm>
              <a:off x="10286" y="3312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56" name="TextBox 15"/>
            <p:cNvSpPr txBox="1"/>
            <p:nvPr>
              <p:custDataLst>
                <p:tags r:id="rId10"/>
              </p:custDataLst>
            </p:nvPr>
          </p:nvSpPr>
          <p:spPr>
            <a:xfrm>
              <a:off x="10453" y="3409"/>
              <a:ext cx="3676" cy="1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26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12</a:t>
              </a:r>
            </a:p>
          </p:txBody>
        </p:sp>
        <p:sp>
          <p:nvSpPr>
            <p:cNvPr id="57" name="TextBox 16"/>
            <p:cNvSpPr txBox="1"/>
            <p:nvPr>
              <p:custDataLst>
                <p:tags r:id="rId11"/>
              </p:custDataLst>
            </p:nvPr>
          </p:nvSpPr>
          <p:spPr>
            <a:xfrm>
              <a:off x="11715" y="3579"/>
              <a:ext cx="3676" cy="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个模块</a:t>
              </a:r>
            </a:p>
          </p:txBody>
        </p:sp>
        <p:sp>
          <p:nvSpPr>
            <p:cNvPr id="58" name="TextBox 17"/>
            <p:cNvSpPr txBox="1"/>
            <p:nvPr>
              <p:custDataLst>
                <p:tags r:id="rId12"/>
              </p:custDataLst>
            </p:nvPr>
          </p:nvSpPr>
          <p:spPr>
            <a:xfrm>
              <a:off x="10453" y="4233"/>
              <a:ext cx="3676" cy="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从行业全景到招标信息完整体系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606550" y="2843530"/>
            <a:ext cx="8346440" cy="726909"/>
            <a:chOff x="1152" y="5445"/>
            <a:chExt cx="13144" cy="1551"/>
          </a:xfrm>
        </p:grpSpPr>
        <p:sp>
          <p:nvSpPr>
            <p:cNvPr id="60" name="Rounded Rectangle 18"/>
            <p:cNvSpPr/>
            <p:nvPr>
              <p:custDataLst>
                <p:tags r:id="rId13"/>
              </p:custDataLst>
            </p:nvPr>
          </p:nvSpPr>
          <p:spPr>
            <a:xfrm>
              <a:off x="1152" y="5445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1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1319" y="5542"/>
              <a:ext cx="3676" cy="10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26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24h</a:t>
              </a:r>
            </a:p>
          </p:txBody>
        </p:sp>
        <p:sp>
          <p:nvSpPr>
            <p:cNvPr id="62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2581" y="5711"/>
              <a:ext cx="3676" cy="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实时监控</a:t>
              </a:r>
            </a:p>
          </p:txBody>
        </p:sp>
        <p:sp>
          <p:nvSpPr>
            <p:cNvPr id="63" name="TextBox 21"/>
            <p:cNvSpPr txBox="1"/>
            <p:nvPr>
              <p:custDataLst>
                <p:tags r:id="rId16"/>
              </p:custDataLst>
            </p:nvPr>
          </p:nvSpPr>
          <p:spPr>
            <a:xfrm>
              <a:off x="1319" y="6366"/>
              <a:ext cx="3676" cy="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百度热搜+GitHub Trending</a:t>
              </a:r>
            </a:p>
          </p:txBody>
        </p:sp>
        <p:sp>
          <p:nvSpPr>
            <p:cNvPr id="64" name="Rounded Rectangle 22"/>
            <p:cNvSpPr/>
            <p:nvPr>
              <p:custDataLst>
                <p:tags r:id="rId17"/>
              </p:custDataLst>
            </p:nvPr>
          </p:nvSpPr>
          <p:spPr>
            <a:xfrm>
              <a:off x="5719" y="5445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5" name="TextBox 23"/>
            <p:cNvSpPr txBox="1"/>
            <p:nvPr>
              <p:custDataLst>
                <p:tags r:id="rId18"/>
              </p:custDataLst>
            </p:nvPr>
          </p:nvSpPr>
          <p:spPr>
            <a:xfrm>
              <a:off x="5886" y="5542"/>
              <a:ext cx="3676" cy="10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26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16</a:t>
              </a:r>
            </a:p>
          </p:txBody>
        </p:sp>
        <p:sp>
          <p:nvSpPr>
            <p:cNvPr id="66" name="TextBox 24"/>
            <p:cNvSpPr txBox="1"/>
            <p:nvPr>
              <p:custDataLst>
                <p:tags r:id="rId19"/>
              </p:custDataLst>
            </p:nvPr>
          </p:nvSpPr>
          <p:spPr>
            <a:xfrm>
              <a:off x="7148" y="5711"/>
              <a:ext cx="3676" cy="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个端点</a:t>
              </a:r>
            </a:p>
          </p:txBody>
        </p:sp>
        <p:sp>
          <p:nvSpPr>
            <p:cNvPr id="67" name="TextBox 25"/>
            <p:cNvSpPr txBox="1"/>
            <p:nvPr>
              <p:custDataLst>
                <p:tags r:id="rId20"/>
              </p:custDataLst>
            </p:nvPr>
          </p:nvSpPr>
          <p:spPr>
            <a:xfrm>
              <a:off x="5886" y="6366"/>
              <a:ext cx="3676" cy="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FastAPI RESTful API</a:t>
              </a:r>
            </a:p>
          </p:txBody>
        </p:sp>
        <p:sp>
          <p:nvSpPr>
            <p:cNvPr id="68" name="Rounded Rectangle 26"/>
            <p:cNvSpPr/>
            <p:nvPr>
              <p:custDataLst>
                <p:tags r:id="rId21"/>
              </p:custDataLst>
            </p:nvPr>
          </p:nvSpPr>
          <p:spPr>
            <a:xfrm>
              <a:off x="10286" y="5445"/>
              <a:ext cx="4010" cy="15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9" name="TextBox 28"/>
            <p:cNvSpPr txBox="1"/>
            <p:nvPr>
              <p:custDataLst>
                <p:tags r:id="rId22"/>
              </p:custDataLst>
            </p:nvPr>
          </p:nvSpPr>
          <p:spPr>
            <a:xfrm>
              <a:off x="10453" y="5751"/>
              <a:ext cx="3676" cy="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200" b="1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sz="1600">
                  <a:hlinkClick r:id="rId23"/>
                </a:rPr>
                <a:t>已部署上线</a:t>
              </a:r>
              <a:endParaRPr sz="1600"/>
            </a:p>
          </p:txBody>
        </p:sp>
        <p:sp>
          <p:nvSpPr>
            <p:cNvPr id="70" name="TextBox 29"/>
            <p:cNvSpPr txBox="1"/>
            <p:nvPr>
              <p:custDataLst>
                <p:tags r:id="rId24"/>
              </p:custDataLst>
            </p:nvPr>
          </p:nvSpPr>
          <p:spPr>
            <a:xfrm>
              <a:off x="10453" y="6367"/>
              <a:ext cx="3676" cy="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9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持续迭代中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详细技术架构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29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InsightPro 全栈技术架构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1730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RAG + 双AI引擎 + 31个API端点 + 15个页面路由 + 9张SQLite表 + APScheduler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Frontend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110642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Next.js 16.2.6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App Router 15路由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React 19.2.4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TypeScript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Tailwind CSS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响应式布局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Recharts 3.8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Area/Bar/Line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ChatAssistant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SSE流式对话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PageTracker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sendBeacon埋点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1579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3591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 panose="020B0609020204030204"/>
              </a:defRPr>
            </a:pPr>
            <a:r>
              <a:t>API Layer  (FastAPI 0.136 · Uvicorn 0.48 · 31端点)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60320"/>
            <a:ext cx="110642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/api/chat/stream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SSE流式客服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41448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/api/baidu-hotsearch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96312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百度热搜爬虫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/api/github-trending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GitHub Trending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35624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/api/market/*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市场情报RAG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82712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37576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/api/bidding/*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招标分析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84664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/api/demand/*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4664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需求挖掘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090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Consolas" panose="020B0609020204030204"/>
              </a:defRPr>
            </a:pPr>
            <a:r>
              <a:t>AI Engine Layer  (双AI引擎 + RAG增强)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493135"/>
            <a:ext cx="5349240" cy="568325"/>
          </a:xfrm>
          <a:prstGeom prst="rect">
            <a:avLst/>
          </a:prstGeom>
          <a:solidFill>
            <a:srgbClr val="F1F5F9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1792" y="3538728"/>
            <a:ext cx="1097280" cy="1828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00">
                <a:latin typeface="微软雅黑" panose="020B0503020204020204" charset="-122"/>
                <a:ea typeface="微软雅黑" panose="020B0503020204020204" charset="-122"/>
              </a:rPr>
              <a:t>码道</a:t>
            </a:r>
            <a:endParaRPr lang="zh-CN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1792" y="3749039"/>
            <a:ext cx="50292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Consolas" panose="020B0609020204030204"/>
              </a:defRPr>
            </a:pPr>
            <a:r>
              <a:rPr lang="en-US"/>
              <a:t>vibecoding </a:t>
            </a:r>
            <a:r>
              <a:t>-chat · OpenAI SDK兼容 · JSON输出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886200"/>
            <a:ext cx="5029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任务分析 / 招标分析 / 市场洞察 / 需求报告（低频结构化）</a:t>
            </a:r>
          </a:p>
        </p:txBody>
      </p:sp>
      <p:grpSp>
        <p:nvGrpSpPr>
          <p:cNvPr id="108" name="组合 107"/>
          <p:cNvGrpSpPr/>
          <p:nvPr/>
        </p:nvGrpSpPr>
        <p:grpSpPr>
          <a:xfrm>
            <a:off x="548640" y="4178935"/>
            <a:ext cx="5349240" cy="574040"/>
            <a:chOff x="864" y="6437"/>
            <a:chExt cx="8424" cy="904"/>
          </a:xfrm>
        </p:grpSpPr>
        <p:sp>
          <p:nvSpPr>
            <p:cNvPr id="55" name="Rectangle 54"/>
            <p:cNvSpPr/>
            <p:nvPr/>
          </p:nvSpPr>
          <p:spPr>
            <a:xfrm>
              <a:off x="864" y="6437"/>
              <a:ext cx="8424" cy="9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79" y="6509"/>
              <a:ext cx="1728" cy="288"/>
            </a:xfrm>
            <a:prstGeom prst="round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51" y="6509"/>
              <a:ext cx="1584" cy="2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ModelArts MaaS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79" y="6840"/>
              <a:ext cx="7920" cy="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api.modelarts-maas.com · deepseek-v3.2 · httpx直连 · 流式SSE+非流式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79" y="7056"/>
              <a:ext cx="7920" cy="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站内AI智能客服问答（高频实时）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080760" y="3493135"/>
            <a:ext cx="5532120" cy="1260475"/>
            <a:chOff x="9576" y="5501"/>
            <a:chExt cx="8712" cy="1728"/>
          </a:xfrm>
        </p:grpSpPr>
        <p:sp>
          <p:nvSpPr>
            <p:cNvPr id="60" name="Rectangle 59"/>
            <p:cNvSpPr/>
            <p:nvPr/>
          </p:nvSpPr>
          <p:spPr>
            <a:xfrm>
              <a:off x="9576" y="5501"/>
              <a:ext cx="8712" cy="1728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9691" y="5573"/>
              <a:ext cx="1728" cy="288"/>
            </a:xfrm>
            <a:prstGeom prst="roundRect">
              <a:avLst/>
            </a:prstGeom>
            <a:solidFill>
              <a:srgbClr val="6D28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763" y="5573"/>
              <a:ext cx="2291" cy="2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DeepSearcher RAG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691" y="5904"/>
              <a:ext cx="8352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Embedding: BAAI/bge-m3 · 1024维 · 中英双语 · 本地SentenceTransformer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691" y="6134"/>
              <a:ext cx="8352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VectorDB: Qdrant 本地文件持久化 (deep_searcher_qdrant/)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691" y="6365"/>
              <a:ext cx="4320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6D28D9"/>
                  </a:solidFill>
                  <a:latin typeface="微软雅黑" panose="020B0503020204020204" charset="-122"/>
                </a:defRPr>
              </a:pPr>
              <a:r>
                <a:t>5个向量集合：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9691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749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platform_knowledge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2499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2557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demand_signals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5307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5365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competitive_news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691" y="6883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49" y="6883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github_trending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2499" y="6883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2557" y="6883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policies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5669280" y="4663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48646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Consolas" panose="020B0609020204030204"/>
              </a:defRPr>
            </a:pPr>
            <a:r>
              <a:t>Data Layer  (SQLite 9表 + Supabase PostgreSQL 预留)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074920"/>
            <a:ext cx="68580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1792" y="5120640"/>
            <a:ext cx="1097280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665" y="5120640"/>
            <a:ext cx="2150745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Consolas" panose="020B0609020204030204"/>
              </a:defRPr>
            </a:pPr>
            <a:r>
              <a:t>SQLite trending.db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github_trending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65960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02536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baidu_hotsearch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310128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46704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scrape_log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54296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90872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page_visits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98464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0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email_subscribers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1792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495" y="5513705"/>
            <a:ext cx="1258570" cy="158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bidding_opportunities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965960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02536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competitor_news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10128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46704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demand_signals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54296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90872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demand_reports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89520" y="507492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662672" y="5120640"/>
            <a:ext cx="109728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08392" y="51206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Consolas" panose="020B0609020204030204"/>
              </a:defRPr>
            </a:pPr>
            <a:r>
              <a:t>Supabase PG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62672" y="532180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Consolas" panose="020B0609020204030204"/>
              </a:defRPr>
            </a:pPr>
            <a:r>
              <a:t>Prisma 7.8: User / InsightTask / DataSource / Report / DailyInsight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58064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20" y="599059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onsolas" panose="020B0609020204030204"/>
              </a:defRPr>
            </a:pPr>
            <a:r>
              <a:t>APScheduler: 09:00 GitHub | 08:30 招标 | 08:00 需求 | 09:05 邮件 | 03:00 清理  ·  降级: 实时爬取→SQLite  ·  双AI: DeepSeek(低频) + ModelArts(高频)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详细技术架构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Architecture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rPr lang="zh-CN" altLang="en-US"/>
              <a:t>解决方案实践组合技能包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III · 13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 panose="020B0609020204030204"/>
              </a:defRPr>
            </a:pPr>
            <a:r>
              <a:rPr lang="en-US">
                <a:sym typeface="+mn-ea"/>
              </a:rPr>
              <a:t>vibe coding</a:t>
            </a:r>
            <a:r>
              <a:rPr lang="zh-CN" altLang="en-US">
                <a:sym typeface="+mn-ea"/>
              </a:rPr>
              <a:t>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/>
              <a:t>解决方案实践组合技能</a:t>
            </a:r>
            <a:r>
              <a:rPr lang="zh-CN"/>
              <a:t>包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基于华为云 RFS/OpenTofu</a:t>
            </a:r>
            <a:br/>
            <a:r>
              <a:t>将解决方案从设计、部署到运维以代码形式标准化、自动化、可复用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第三幕 · SAC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— · 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SAC · </a:t>
            </a:r>
            <a:r>
              <a:rPr>
                <a:sym typeface="+mn-ea"/>
              </a:rPr>
              <a:t>解决方案实践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III / Portfolio · 14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SOLUTION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解决方案实践</a:t>
            </a:r>
            <a:r>
              <a:rPr lang="en-US"/>
              <a:t>-</a:t>
            </a:r>
            <a:r>
              <a:rPr lang="zh-CN" altLang="en-US"/>
              <a:t>成功</a:t>
            </a:r>
            <a:r>
              <a:rPr lang="zh-CN" altLang="en-US"/>
              <a:t>案例</a:t>
            </a:r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Headroom</a:t>
            </a:r>
            <a:br/>
            <a:r>
              <a:t>OpenCode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AI编程助手平台</a:t>
            </a:r>
            <a:br/>
            <a:r>
              <a:t>Token压缩60-95%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CN/HK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LiteLLM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多模型API网关</a:t>
            </a:r>
            <a:br/>
            <a:r>
              <a:t>统一接入多种大模型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CN/HK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OpenHands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AI驱动的</a:t>
            </a:r>
            <a:br/>
            <a:r>
              <a:t>开发助手平台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开源Firebase替代</a:t>
            </a:r>
            <a:br/>
            <a:r>
              <a:t>后端即服务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0233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CodeWhale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800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智能代码</a:t>
            </a:r>
            <a:br/>
            <a:r>
              <a:t>分析平台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AiToEarn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00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AI收益系统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49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onsolas" panose="020B0609020204030204"/>
              </a:defRPr>
            </a:pPr>
            <a:r>
              <a:t>CN/HK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144768"/>
            <a:ext cx="100584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统一结构：业务文档 · 技术文档 · Shell脚本 · Terraform模板  |  标准化 · 自动化 · 可复用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SAC · 解决方案全景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SAC · Headroom OpenCode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Act III / Headroom · 15 / 28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rPr>
                <a:solidFill>
                  <a:schemeClr val="tx1"/>
                </a:solidFill>
              </a:rPr>
              <a:t>THE FRUGAL CODING ASSISTANT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Headroom + OpenCode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开源 AI 编程环境，通过智能上下文压缩引擎将 Token 成本降低 60-95%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75690" y="2618740"/>
            <a:ext cx="4941570" cy="1011316"/>
            <a:chOff x="1152" y="4320"/>
            <a:chExt cx="8496" cy="2551"/>
          </a:xfrm>
          <a:solidFill>
            <a:schemeClr val="bg2"/>
          </a:solidFill>
        </p:grpSpPr>
        <p:sp>
          <p:nvSpPr>
            <p:cNvPr id="8" name="Rounded Rectangle 7"/>
            <p:cNvSpPr/>
            <p:nvPr/>
          </p:nvSpPr>
          <p:spPr>
            <a:xfrm>
              <a:off x="1152" y="4320"/>
              <a:ext cx="4032" cy="2551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40" y="4497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24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rPr sz="2000">
                  <a:solidFill>
                    <a:schemeClr val="tx1"/>
                  </a:solidFill>
                </a:rPr>
                <a:t>60-95%</a:t>
              </a:r>
              <a:endParaRPr sz="2000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40" y="5328"/>
              <a:ext cx="3456" cy="307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200">
                  <a:solidFill>
                    <a:schemeClr val="tx1"/>
                  </a:solidFill>
                </a:rPr>
                <a:t>Token压缩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40" y="604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rPr sz="900">
                  <a:solidFill>
                    <a:schemeClr val="tx1"/>
                  </a:solidFill>
                </a:rPr>
                <a:t>智能分析工具/文件/历史</a:t>
              </a:r>
              <a:endParaRPr sz="900">
                <a:solidFill>
                  <a:schemeClr val="tx1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616" y="4320"/>
              <a:ext cx="4032" cy="2551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04" y="460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24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rPr sz="2000">
                  <a:solidFill>
                    <a:schemeClr val="tx1"/>
                  </a:solidFill>
                </a:rPr>
                <a:t>零费用</a:t>
              </a:r>
              <a:endParaRPr sz="2000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04" y="5328"/>
              <a:ext cx="3456" cy="307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200">
                  <a:solidFill>
                    <a:schemeClr val="tx1"/>
                  </a:solidFill>
                </a:rPr>
                <a:t>开源·MIT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04" y="604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rPr sz="900">
                  <a:solidFill>
                    <a:schemeClr val="tx1"/>
                  </a:solidFill>
                </a:rPr>
                <a:t>无供应商锁定</a:t>
              </a:r>
              <a:endParaRPr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071880" y="3752215"/>
            <a:ext cx="4946015" cy="1116330"/>
            <a:chOff x="10080" y="4320"/>
            <a:chExt cx="8496" cy="2550"/>
          </a:xfrm>
          <a:solidFill>
            <a:schemeClr val="bg2"/>
          </a:solidFill>
        </p:grpSpPr>
        <p:sp>
          <p:nvSpPr>
            <p:cNvPr id="16" name="Rounded Rectangle 15"/>
            <p:cNvSpPr/>
            <p:nvPr/>
          </p:nvSpPr>
          <p:spPr>
            <a:xfrm>
              <a:off x="10080" y="4320"/>
              <a:ext cx="4032" cy="2551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68" y="460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2400" b="1">
                  <a:solidFill>
                    <a:srgbClr val="10B981"/>
                  </a:solidFill>
                  <a:latin typeface="微软雅黑" panose="020B0503020204020204" charset="-122"/>
                </a:defRPr>
              </a:pPr>
              <a:r>
                <a:rPr sz="2000">
                  <a:solidFill>
                    <a:schemeClr val="tx1"/>
                  </a:solidFill>
                </a:rPr>
                <a:t>一键部署</a:t>
              </a:r>
              <a:endParaRPr sz="2000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368" y="5328"/>
              <a:ext cx="3456" cy="307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200">
                  <a:solidFill>
                    <a:schemeClr val="tx1"/>
                  </a:solidFill>
                </a:rPr>
                <a:t>Flexus X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368" y="604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rPr sz="900">
                  <a:solidFill>
                    <a:schemeClr val="tx1"/>
                  </a:solidFill>
                </a:rPr>
                <a:t>RFS模板3-5分钟</a:t>
              </a:r>
              <a:endParaRPr sz="90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4544" y="4320"/>
              <a:ext cx="4032" cy="2551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832" y="460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2400" b="1">
                  <a:solidFill>
                    <a:srgbClr val="A78BF0"/>
                  </a:solidFill>
                  <a:latin typeface="微软雅黑" panose="020B0503020204020204" charset="-122"/>
                </a:defRPr>
              </a:pPr>
              <a:r>
                <a:rPr sz="2000">
                  <a:solidFill>
                    <a:schemeClr val="tx1"/>
                  </a:solidFill>
                </a:rPr>
                <a:t>多模型</a:t>
              </a:r>
              <a:endParaRPr sz="200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832" y="5328"/>
              <a:ext cx="3456" cy="307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4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200">
                  <a:solidFill>
                    <a:schemeClr val="tx1"/>
                  </a:solidFill>
                </a:rPr>
                <a:t>DeepSeek/Claude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832" y="6048"/>
              <a:ext cx="3456" cy="511"/>
            </a:xfrm>
            <a:prstGeom prst="rect">
              <a:avLst/>
            </a:prstGeom>
            <a:grpFill/>
          </p:spPr>
          <p:txBody>
            <a:bodyPr wrap="square">
              <a:noAutofit/>
            </a:bodyPr>
            <a:lstStyle/>
            <a:p>
              <a:pPr algn="l">
                <a:defRPr sz="10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rPr sz="900">
                  <a:solidFill>
                    <a:schemeClr val="tx1"/>
                  </a:solidFill>
                </a:rPr>
                <a:t>灵活切换适配场景</a:t>
              </a:r>
              <a:endParaRPr sz="900">
                <a:solidFill>
                  <a:schemeClr val="tx1"/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Headroom OpenCode · 核心方案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Core Solution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922770" y="2164080"/>
            <a:ext cx="4004310" cy="2914650"/>
            <a:chOff x="6336" y="6122"/>
            <a:chExt cx="6306" cy="4590"/>
          </a:xfrm>
        </p:grpSpPr>
        <p:sp>
          <p:nvSpPr>
            <p:cNvPr id="26" name="TextBox 19"/>
            <p:cNvSpPr txBox="1"/>
            <p:nvPr/>
          </p:nvSpPr>
          <p:spPr>
            <a:xfrm>
              <a:off x="6480" y="8352"/>
              <a:ext cx="3600" cy="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100" b="0">
                  <a:solidFill>
                    <a:srgbClr val="6B7280"/>
                  </a:solidFill>
                  <a:latin typeface="Consolas" panose="020B0609020204030204"/>
                </a:defRPr>
              </a:pPr>
              <a:r>
                <a:rPr>
                  <a:solidFill>
                    <a:schemeClr val="tx1"/>
                  </a:solidFill>
                </a:rPr>
                <a:t>开源MIT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36" y="6122"/>
              <a:ext cx="6306" cy="4591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8855" y="6646"/>
              <a:ext cx="953" cy="393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tint val="100000"/>
                          <a:shade val="100000"/>
                          <a:satMod val="130000"/>
                        </a:schemeClr>
                      </a:gs>
                      <a:gs pos="100000">
                        <a:schemeClr val="accent1">
                          <a:tint val="50000"/>
                          <a:shade val="100000"/>
                          <a:satMod val="350000"/>
                        </a:schemeClr>
                      </a:gs>
                    </a:gsLst>
                    <a:lin ang="162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891" y="6644"/>
              <a:ext cx="953" cy="393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tint val="100000"/>
                          <a:shade val="100000"/>
                          <a:satMod val="130000"/>
                        </a:schemeClr>
                      </a:gs>
                      <a:gs pos="100000">
                        <a:schemeClr val="accent1">
                          <a:tint val="50000"/>
                          <a:shade val="100000"/>
                          <a:satMod val="350000"/>
                        </a:schemeClr>
                      </a:gs>
                    </a:gsLst>
                    <a:lin ang="162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387" y="6807"/>
              <a:ext cx="18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>
                  <a:solidFill>
                    <a:schemeClr val="tx1"/>
                  </a:solidFill>
                </a:rPr>
                <a:t>未使用</a:t>
              </a:r>
              <a:r>
                <a:rPr lang="en-US" altLang="zh-CN" sz="800">
                  <a:solidFill>
                    <a:schemeClr val="tx1"/>
                  </a:solidFill>
                </a:rPr>
                <a:t>Headroom</a:t>
              </a:r>
              <a:r>
                <a:rPr lang="zh-CN" altLang="en-US" sz="800">
                  <a:solidFill>
                    <a:schemeClr val="tx1"/>
                  </a:solidFill>
                </a:rPr>
                <a:t>的</a:t>
              </a:r>
              <a:r>
                <a:rPr lang="en-US" altLang="zh-CN" sz="800">
                  <a:solidFill>
                    <a:schemeClr val="tx1"/>
                  </a:solidFill>
                </a:rPr>
                <a:t>coding</a:t>
              </a:r>
              <a:r>
                <a:rPr lang="zh-CN" altLang="en-US" sz="800">
                  <a:solidFill>
                    <a:schemeClr val="tx1"/>
                  </a:solidFill>
                </a:rPr>
                <a:t>方案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245" y="6807"/>
              <a:ext cx="18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>
                  <a:solidFill>
                    <a:schemeClr val="tx1"/>
                  </a:solidFill>
                </a:rPr>
                <a:t>使用</a:t>
              </a:r>
              <a:r>
                <a:rPr lang="en-US" altLang="zh-CN" sz="800">
                  <a:solidFill>
                    <a:schemeClr val="tx1"/>
                  </a:solidFill>
                </a:rPr>
                <a:t>Headroom</a:t>
              </a:r>
              <a:r>
                <a:rPr lang="zh-CN" altLang="en-US" sz="800">
                  <a:solidFill>
                    <a:schemeClr val="tx1"/>
                  </a:solidFill>
                </a:rPr>
                <a:t>的</a:t>
              </a:r>
              <a:r>
                <a:rPr lang="en-US" altLang="zh-CN" sz="800">
                  <a:solidFill>
                    <a:schemeClr val="tx1"/>
                  </a:solidFill>
                </a:rPr>
                <a:t>coding</a:t>
              </a:r>
              <a:r>
                <a:rPr lang="zh-CN" altLang="en-US" sz="800">
                  <a:solidFill>
                    <a:schemeClr val="tx1"/>
                  </a:solidFill>
                </a:rPr>
                <a:t>方案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697" y="8443"/>
              <a:ext cx="419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相同的请求，</a:t>
              </a:r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1/4</a:t>
              </a:r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token</a:t>
              </a:r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使用量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精度几乎无损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48640" y="5414645"/>
            <a:ext cx="10580370" cy="769946"/>
            <a:chOff x="1152" y="3600"/>
            <a:chExt cx="17280" cy="2363"/>
          </a:xfrm>
          <a:solidFill>
            <a:schemeClr val="bg2"/>
          </a:solidFill>
        </p:grpSpPr>
        <p:sp>
          <p:nvSpPr>
            <p:cNvPr id="36" name="Rounded Rectangle 6"/>
            <p:cNvSpPr/>
            <p:nvPr/>
          </p:nvSpPr>
          <p:spPr>
            <a:xfrm>
              <a:off x="1152" y="3600"/>
              <a:ext cx="5472" cy="2363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7" name="TextBox 7"/>
            <p:cNvSpPr txBox="1"/>
            <p:nvPr/>
          </p:nvSpPr>
          <p:spPr>
            <a:xfrm>
              <a:off x="1440" y="3816"/>
              <a:ext cx="4896" cy="11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8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日常开发辅助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8" name="TextBox 9"/>
            <p:cNvSpPr txBox="1"/>
            <p:nvPr/>
          </p:nvSpPr>
          <p:spPr>
            <a:xfrm>
              <a:off x="1645" y="4801"/>
              <a:ext cx="4752" cy="103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6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节省60-80%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9" name="Rounded Rectangle 10"/>
            <p:cNvSpPr/>
            <p:nvPr/>
          </p:nvSpPr>
          <p:spPr>
            <a:xfrm>
              <a:off x="7056" y="3600"/>
              <a:ext cx="5472" cy="2363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0" name="TextBox 11"/>
            <p:cNvSpPr txBox="1"/>
            <p:nvPr/>
          </p:nvSpPr>
          <p:spPr>
            <a:xfrm>
              <a:off x="7344" y="3816"/>
              <a:ext cx="4896" cy="11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8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大代码库探索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1" name="TextBox 13"/>
            <p:cNvSpPr txBox="1"/>
            <p:nvPr/>
          </p:nvSpPr>
          <p:spPr>
            <a:xfrm>
              <a:off x="7549" y="4801"/>
              <a:ext cx="4752" cy="103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6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压缩85-92%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2" name="Rounded Rectangle 14"/>
            <p:cNvSpPr/>
            <p:nvPr/>
          </p:nvSpPr>
          <p:spPr>
            <a:xfrm>
              <a:off x="12960" y="3600"/>
              <a:ext cx="5472" cy="2363"/>
            </a:xfrm>
            <a:prstGeom prst="roundRect">
              <a:avLst/>
            </a:prstGeom>
            <a:grpFill/>
            <a:ln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3" name="TextBox 15"/>
            <p:cNvSpPr txBox="1"/>
            <p:nvPr/>
          </p:nvSpPr>
          <p:spPr>
            <a:xfrm>
              <a:off x="13248" y="3816"/>
              <a:ext cx="4896" cy="11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8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日志调试分析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4" name="TextBox 17"/>
            <p:cNvSpPr txBox="1"/>
            <p:nvPr/>
          </p:nvSpPr>
          <p:spPr>
            <a:xfrm>
              <a:off x="13391" y="4801"/>
              <a:ext cx="4752" cy="103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l">
                <a:defRPr sz="16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rPr>
                  <a:solidFill>
                    <a:schemeClr val="tx1"/>
                  </a:solidFill>
                </a:rPr>
                <a:t>压缩90-95%</a:t>
              </a:r>
              <a:endParaRPr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SAC · 华为云 RFS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Act III / RFS · 17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RFS RESOURCE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解决方案实践</a:t>
            </a:r>
            <a:r>
              <a:rPr lang="en-US" altLang="zh-CN"/>
              <a:t>:</a:t>
            </a:r>
            <a:r>
              <a:rPr lang="zh-CN" altLang="en-US"/>
              <a:t>基于</a:t>
            </a:r>
            <a:r>
              <a:rPr lang="en-US" altLang="zh-CN"/>
              <a:t>RFS</a:t>
            </a:r>
            <a:r>
              <a:rPr lang="zh-CN" altLang="en-US"/>
              <a:t>的</a:t>
            </a:r>
            <a:r>
              <a:t>一键部署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029200" cy="32004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Consolas" panose="020B0609020204030204"/>
              </a:defRPr>
            </a:pPr>
            <a:r>
              <a:t>模板结构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 panose="020B0609020204030204"/>
              </a:defRPr>
            </a:pPr>
            <a:r>
              <a:t>Variables → Locals → Data Sources</a:t>
            </a:r>
            <a:br/>
            <a:r>
              <a:t>→ VPC/Subnet/SecGroup</a:t>
            </a:r>
            <a:br/>
            <a:r>
              <a:t>→ EIP → ECS</a:t>
            </a:r>
            <a:br/>
            <a:r>
              <a:t>→ user_data 下载脚本</a:t>
            </a:r>
            <a:br/>
            <a:r>
              <a:t>→ 执行 → 清理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Consolas" panose="020B0609020204030204"/>
              </a:defRPr>
            </a:pPr>
            <a:r>
              <a:t>模板-脚本分离原则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029200" cy="32004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Consolas" panose="020B0609020204030204"/>
              </a:defRPr>
            </a:pPr>
            <a:r>
              <a:t>RFS 一键部署流程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 打开 RFS 部署链接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 填写参数配置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 点击"一键部署"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 自动创建运行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5. SSH 验证服务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A1A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.tf user_data: 重置密码→OBS下载→执行→清理  |  .sh安装脚本: Docker安装→容器启动→健康检查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SAC · RFS 资源编排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RFS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第四幕 · 华为云产品深度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Act IV · 20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onsolas" panose="020B0609020204030204"/>
              </a:defRPr>
            </a:pPr>
            <a:r>
              <a:t>Act IV · Huawei Cloud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云上深度集成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MaaS 大模型服务、RFS 资源编排、Headroom 上下文压缩</a:t>
            </a:r>
            <a:br/>
            <a:r>
              <a:t>三项华为云产品在两个项目中深度应用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第四幕 · 华为云产品深度使用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— · 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华为云 MaaS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IV / MaaS · 21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MODELARTS MAAS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大模型即服务 · 双项目全覆盖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InsightPro 中的 MaaS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双AI引擎：DeepSeek API + MaaS</a:t>
            </a:r>
            <a:br/>
            <a:r>
              <a:t>• 流式响应：面向终端实时问答</a:t>
            </a:r>
            <a:br/>
            <a:r>
              <a:t>• 结构化报告：深度分析报告生成</a:t>
            </a:r>
            <a:br/>
            <a:r>
              <a:t>• OpenAI兼容SDK：零迁移成本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Consolas" panose="020B0609020204030204"/>
              </a:defRPr>
            </a:pPr>
            <a:r>
              <a:t>流式对话 + 结构化分析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029200" cy="2743200"/>
          </a:xfrm>
          <a:prstGeom prst="round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SAC 中的 MaaS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Headroom压缩后转MaaS API</a:t>
            </a:r>
            <a:br/>
            <a:r>
              <a:t>• 支持DeepSeek/Claude切换</a:t>
            </a:r>
            <a:br/>
            <a:r>
              <a:t>• MaaS作为统一推理入口</a:t>
            </a:r>
            <a:br/>
            <a:r>
              <a:t>• 按Token用量计费，成本可控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548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Consolas" panose="020B0609020204030204"/>
              </a:defRPr>
            </a:pPr>
            <a:r>
              <a:t>AI 编程推理后端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5029200" cy="2743200"/>
          </a:xfrm>
          <a:prstGeom prst="round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双项目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InsightPro+SAC全覆盖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94960"/>
            <a:ext cx="2286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DeepSeek-V3</a:t>
            </a:r>
            <a:r>
              <a:rPr lang="en-US"/>
              <a:t>.2</a:t>
            </a: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864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高性价比推理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OpenAI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标准API兼容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华为云 MaaS · 深度使用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MaaS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第五幕 · 创新与价值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V · 24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 panose="020B0609020204030204"/>
              </a:defRPr>
            </a:pPr>
            <a:r>
              <a:t>Act V · Innovation &amp;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创新驱动价值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Agent 不只是技术工具，而是重塑业务流程的驱动力</a:t>
            </a:r>
            <a:br/>
            <a:r>
              <a:t>从情报获取到方案交付，每一个环节都在被重新定义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第五幕 · 创新性与价值总结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— · 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AI Agent · 创新实践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V / Innovation · 25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INNOVATION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AI Agent 应用创新点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双 AI 引擎协同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InsightPro首创DeepSeek结构化分析+MaaS流式对话双引擎</a:t>
            </a:r>
            <a:br/>
            <a:r>
              <a:t>不同任务匹配不同引擎，成本与质量平衡优化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上下文压缩革命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Headroom AST感知压缩使Token成本降低90%+</a:t>
            </a:r>
            <a:br/>
            <a:r>
              <a:t>可逆压缩机制按需还原，不牺牲回答质量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解决方案即代码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将IaC理念扩展到完整解决方案生命周期</a:t>
            </a:r>
            <a:br/>
            <a:r>
              <a:t>SAC框架使设计/部署/运维全流程代码化标准化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Agent辅助竞争分析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AI驱动六维竞争场景分析框架</a:t>
            </a:r>
            <a:br/>
            <a:r>
              <a:t>每个场景量化差距、提供策略建议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114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自动化情报流水线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从多源采集到AI分析到可视化展示全流程自动化</a:t>
            </a:r>
            <a:br/>
            <a:r>
              <a:t>定时任务+降级机制确保高可用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14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Skill技能市场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SAC框架内建AI技能体系</a:t>
            </a:r>
            <a:br/>
            <a:r>
              <a:t>rfs-practices/extractor/page-enhance等实现开发自动化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AI Agent · 创新实践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Innovation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业务价值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Act V / Value · 26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VALUE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业务价值量化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情报效率提升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信息聚合替代人工搜集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60-95%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Token节省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上下文压缩降低AI成本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一键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部署效率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RFS模板3-5分钟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2个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开源项目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全部代码可复用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11480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3项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华为云服务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MaaS·RFS·Headroom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114800"/>
            <a:ext cx="347472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6+6+4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场景覆盖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竞争+部署+开发全覆盖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Page 26 · 业务价值量化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未来规划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Act V / Future · 27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onsolas" panose="020B0609020204030204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持续演进 · 未来方向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InsightPro 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Supabase持久化(替换SQLite)</a:t>
            </a:r>
            <a:br/>
            <a:r>
              <a:t>• AI分析结果入库与历史对比</a:t>
            </a:r>
            <a:br/>
            <a:r>
              <a:t>• 用户认证(NextAuth+Supabase)</a:t>
            </a:r>
            <a:br/>
            <a:r>
              <a:t>• 全局搜索功能</a:t>
            </a:r>
            <a:br/>
            <a:r>
              <a:t>• 通知系统/PDF导出/移动端</a:t>
            </a:r>
            <a:br/>
            <a:r>
              <a:t>• 更多实时数据源接入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12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Consolas" panose="020B0609020204030204"/>
              </a:defRPr>
            </a:pPr>
            <a:r>
              <a:t>持续进化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029200" cy="3200400"/>
          </a:xfrm>
          <a:prstGeom prst="round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SAC 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更多解决方案场景覆盖</a:t>
            </a:r>
            <a:br/>
            <a:r>
              <a:t>• AI Agent自动化程度提升</a:t>
            </a:r>
            <a:br/>
            <a:r>
              <a:t>• 跨方案编排与组合</a:t>
            </a:r>
            <a:br/>
            <a:r>
              <a:t>• 方案质量自动评估</a:t>
            </a:r>
            <a:br/>
            <a:r>
              <a:t>• 社区贡献与协作机制</a:t>
            </a:r>
            <a:br/>
            <a:r>
              <a:t>• 多区域部署模板扩展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212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Consolas" panose="020B0609020204030204"/>
              </a:defRPr>
            </a:pPr>
            <a:r>
              <a:t>持续进化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5029200" cy="3200400"/>
          </a:xfrm>
          <a:prstGeom prst="round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持续迭代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社区驱动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云原生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AI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未来规划 · 持续演进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The Takeaway · 核心洞察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28 /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onsolas" panose="020B0609020204030204"/>
              </a:defRPr>
            </a:pPr>
            <a:r>
              <a:t>智云赢商 · AI Agent 创新实战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Agent 不是替代人，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而是放大人的能力，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A623"/>
                </a:solidFill>
                <a:latin typeface="微软雅黑" panose="020B0503020204020204" charset="-122"/>
              </a:defRPr>
            </a:pPr>
            <a:r>
              <a:t>让每一次决策都有数据支撑。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2743200" cy="127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InsightPro 让商业洞察智能化，SAC 让方案交付自动化</a:t>
            </a:r>
            <a:br/>
            <a:r>
              <a:t>基于华为云，用 AI Agent 驱动业务价值落地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github.com/Justin-TangPan/Insightpro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onsolas" panose="020B0609020204030204"/>
              </a:defRPr>
            </a:pPr>
            <a:r>
              <a:t>github.com/Justin-TangPan/solution-implementations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onsolas" panose="020B0609020204030204"/>
              </a:defRPr>
            </a:pPr>
            <a:r>
              <a:t>唐潘 · 解决方案  |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谢谢 · 欢迎交流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— 2026 —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2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3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4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5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6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7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8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9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0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1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2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3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4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5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6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7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8.xml><?xml version="1.0" encoding="utf-8"?>
<p:tagLst xmlns:p="http://schemas.openxmlformats.org/presentationml/2006/main">
  <p:tag name="KSO_WM_DIAGRAM_VIRTUALLY_FRAME" val="{&quot;height&quot;:341.99992125984255,&quot;left&quot;:72,&quot;top&quot;:158.4,&quot;width&quot;:345.6}"/>
</p:tagLst>
</file>

<file path=ppt/tags/tag19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0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1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2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3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4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5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6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7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8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29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0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1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2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3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4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5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6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7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8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39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40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ags/tag41.xml><?xml version="1.0" encoding="utf-8"?>
<p:tagLst xmlns:p="http://schemas.openxmlformats.org/presentationml/2006/main">
  <p:tag name="KSO_WM_DIAGRAM_VIRTUALLY_FRAME" val="{&quot;height&quot;:184.2,&quot;left&quot;:57.6,&quot;top&quot;:165.6,&quot;width&quot;:547.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5432</Words>
  <Application>WPS 演示</Application>
  <PresentationFormat>On-screen Show (4:3)</PresentationFormat>
  <Paragraphs>698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Consolas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糖糖糖</cp:lastModifiedBy>
  <cp:revision>8</cp:revision>
  <dcterms:created xsi:type="dcterms:W3CDTF">2013-01-27T09:14:00Z</dcterms:created>
  <dcterms:modified xsi:type="dcterms:W3CDTF">2026-06-16T02:37:01Z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D698969D5F2A4674B0F2BF5486287A97_12</vt:lpwstr>
  </property>
  <property fmtid="{D5CDD505-2E9C-101B-9397-08002B2CF9AE}" pid="3" name="KSOProductBuildVer">
    <vt:lpwstr>2052-12.1.0.22529</vt:lpwstr>
  </property>
</Properties>
</file>